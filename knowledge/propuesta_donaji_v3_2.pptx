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2801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2103120"/>
            <a:ext cx="292608" cy="29260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2286000"/>
            <a:ext cx="201168" cy="201168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493776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5577840"/>
            <a:ext cx="237744" cy="237744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4023360"/>
            <a:ext cx="274320" cy="274320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541"/>
                </a:solidFill>
                <a:latin typeface="Calibri"/>
              </a:rPr>
              <a:t>PROPUESTA DE SOLUCIÓN TECNOLÓGICA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7680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Sistema de Reservaciones,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Boletos y Paquetería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FDEE8"/>
                </a:solidFill>
                <a:latin typeface="Calibri"/>
              </a:rPr>
              <a:t>Plataforma a la medida para una agencia de viajes con 4 sucursales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CFDEE8"/>
                </a:solidFill>
                <a:latin typeface="Calibri"/>
              </a:rPr>
              <a:t>interconectadas — arquitectura híbrida con operación sin conexión.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828032"/>
            <a:ext cx="2743200" cy="41148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1091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FDEE8"/>
                </a:solidFill>
                <a:latin typeface="Calibri"/>
              </a:rPr>
              <a:t>Preparado por Ing. Adolfo López López · Fi.TechServices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8BA6"/>
                </a:solidFill>
                <a:latin typeface="Calibri"/>
              </a:rPr>
              <a:t>fito.techservices@gmail.com    ·    Cel: 9535409577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0585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FDEE8"/>
                </a:solidFill>
                <a:latin typeface="Calibri"/>
              </a:rPr>
              <a:t>Modelo: desarrollo inicial a la medida  +  licencia por renta mensual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FDEE8"/>
                </a:solidFill>
                <a:latin typeface="Calibri"/>
              </a:rPr>
              <a:t>Etapa 1: Tickets y reservaciones (MVP)   ·   Etapa 2: Paquetería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El contexto del cliente y su necesidad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5B6B7E"/>
                </a:solidFill>
                <a:latin typeface="Calibri"/>
              </a:rPr>
              <a:t>Una agencia de viajes con 4 sucursales que hacen viajes entre sí, venden boletos, reservan asientos y envían paquetes de una sucursal a otra. Hoy todo se maneja de forma manual o con herramientas aisladas.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1" y="3026664"/>
            <a:ext cx="713232" cy="7132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" y="302666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86200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4 sucursales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7200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80" b="0" i="0">
                <a:solidFill>
                  <a:srgbClr val="5B6B7E"/>
                </a:solidFill>
                <a:latin typeface="Calibri"/>
              </a:rPr>
              <a:t>Todas venden y reservan; necesitan ver la misma información y evitar sobreventa.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27432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12464" y="3026664"/>
            <a:ext cx="713232" cy="713232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302666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3–6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3886200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Distancias largas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457200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80" b="0" i="0">
                <a:solidFill>
                  <a:srgbClr val="5B6B7E"/>
                </a:solidFill>
                <a:latin typeface="Calibri"/>
              </a:rPr>
              <a:t>Las sucursales están a 3 a 6 horas entre sí: el soporte presencial rápido no es viable.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7432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74536" y="3026664"/>
            <a:ext cx="713232" cy="71323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302666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886200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Paquetería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457200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80" b="0" i="0">
                <a:solidFill>
                  <a:srgbClr val="5B6B7E"/>
                </a:solidFill>
                <a:latin typeface="Calibri"/>
              </a:rPr>
              <a:t>Envío y rastreo de paquetes entre las 4 sucursales (segunda etapa).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27432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36607" y="3026664"/>
            <a:ext cx="713232" cy="713232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7" y="302666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3886200"/>
            <a:ext cx="2185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Conexión variable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4572000"/>
            <a:ext cx="218541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80" b="0" i="0">
                <a:solidFill>
                  <a:srgbClr val="5B6B7E"/>
                </a:solidFill>
                <a:latin typeface="Calibri"/>
              </a:rPr>
              <a:t>Internet deficiente o intermitente: el sistema debe seguir operando igual.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Un proyecto en dos etapas, arrancando con un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B7E"/>
                </a:solidFill>
                <a:latin typeface="Calibri"/>
              </a:rPr>
              <a:t>Primero liberamos un MVP operativo de tickets y reservaciones; las funciones secundarias se van liberando dentro de la renta. La paquetería llega como segunda etapa sobre la misma plataforma.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5440680" cy="3794760"/>
          </a:xfrm>
          <a:prstGeom prst="roundRect">
            <a:avLst>
              <a:gd name="adj" fmla="val 4500"/>
            </a:avLst>
          </a:prstGeom>
          <a:solidFill>
            <a:srgbClr val="0F2445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697480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0720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541"/>
                </a:solidFill>
                <a:latin typeface="Calibri"/>
              </a:rPr>
              <a:t>ETAPA 1 · MVP OPERATIVO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15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Tickets y Reservaciones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90448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82219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CFDEE8"/>
                </a:solidFill>
                <a:latin typeface="Calibri"/>
              </a:rPr>
              <a:t>Venta de boletos e impresión de ticket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334256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2519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CFDEE8"/>
                </a:solidFill>
                <a:latin typeface="Calibri"/>
              </a:rPr>
              <a:t>Reservación con mapa visual de asientos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764024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68172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CFDEE8"/>
                </a:solidFill>
                <a:latin typeface="Calibri"/>
              </a:rPr>
              <a:t>Rutas y viajes entre las 4 sucursales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5193792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11149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CFDEE8"/>
                </a:solidFill>
                <a:latin typeface="Calibri"/>
              </a:rPr>
              <a:t>Usuarios, roles y corte de caja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5623559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54126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CFDEE8"/>
                </a:solidFill>
                <a:latin typeface="Calibri"/>
              </a:rPr>
              <a:t>Operación sin conexión + sincronización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064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A6"/>
                </a:solidFill>
                <a:latin typeface="Calibri"/>
              </a:rPr>
              <a:t>Duración estimada: ~4 meses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423160"/>
            <a:ext cx="5257800" cy="3794760"/>
          </a:xfrm>
          <a:prstGeom prst="roundRect">
            <a:avLst>
              <a:gd name="adj" fmla="val 45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59" y="2697480"/>
            <a:ext cx="731520" cy="73152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6974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80720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871E"/>
                </a:solidFill>
                <a:latin typeface="Calibri"/>
              </a:rPr>
              <a:t>ETAPA 2 · POSTERIOR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0815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445"/>
                </a:solidFill>
                <a:latin typeface="Cambria"/>
              </a:rPr>
              <a:t>Envío de Paquetería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3904488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382219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Registro de envío con número de control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4334256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2519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Recepción por código de barras en destino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4764024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46817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Consulta interna de estatus del envío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0" y="5193792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5111496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Cobro en sucursal de origen o destino</a:t>
            </a:r>
          </a:p>
        </p:txBody>
      </p:sp>
      <p:sp>
        <p:nvSpPr>
          <p:cNvPr id="35" name="Oval 34"/>
          <p:cNvSpPr/>
          <p:nvPr/>
        </p:nvSpPr>
        <p:spPr>
          <a:xfrm>
            <a:off x="6629400" y="5623559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554126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Reportes de paquetería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8064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Pago único adicional + incremento de renta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ENFOQUE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Desarrollo a la medida, diseñado para operar sin conexión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5B6B7E"/>
                </a:solidFill>
                <a:latin typeface="Calibri"/>
              </a:rPr>
              <a:t>Los sistemas comerciales no cubren reservaciones entre sucursales, paquetería interna y conectividad limitada a la vez. Construimos una solución propia, ajustada al proceso real del cliente.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927080" cy="8229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53288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3288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51176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A la medida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14600"/>
            <a:ext cx="6812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5B6B7E"/>
                </a:solidFill>
                <a:latin typeface="Calibri"/>
              </a:rPr>
              <a:t>Cada módulo se ajusta al flujo real del negocio, no al revés.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55848"/>
            <a:ext cx="10927080" cy="8229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3465576"/>
            <a:ext cx="603504" cy="603504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465576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83864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Offline-first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47288"/>
            <a:ext cx="6812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5B6B7E"/>
                </a:solidFill>
                <a:latin typeface="Calibri"/>
              </a:rPr>
              <a:t>Vive instalado en cada sucursal y funciona aunque el internet falle; la nube sincroniza.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88536"/>
            <a:ext cx="10927080" cy="8229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4398264"/>
            <a:ext cx="603504" cy="603504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9826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16551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Una sola plataforma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379975"/>
            <a:ext cx="6812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5B6B7E"/>
                </a:solidFill>
                <a:latin typeface="Calibri"/>
              </a:rPr>
              <a:t>Boletos, reservaciones y paquetería comparten la misma base y crecen por etapas.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21223"/>
            <a:ext cx="10927080" cy="82296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" y="5330951"/>
            <a:ext cx="603504" cy="603504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33095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49239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Cambria"/>
              </a:rPr>
              <a:t>Escalable y mantenible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12663"/>
            <a:ext cx="6812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5B6B7E"/>
                </a:solidFill>
                <a:latin typeface="Calibri"/>
              </a:rPr>
              <a:t>Preparado para sumar sucursales o módulos sin rehacer el 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541"/>
                </a:solidFill>
                <a:latin typeface="Calibri"/>
              </a:rPr>
              <a:t>ARQUITECTURA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Cómo se conecta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CFDEE8"/>
                </a:solidFill>
                <a:latin typeface="Calibri"/>
              </a:rPr>
              <a:t>Base de datos maestra en la nube · sistema instalado localmente en cada sucursal · réplica y respaldo local para operar sin conexión.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965960"/>
            <a:ext cx="3959352" cy="105156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130552"/>
            <a:ext cx="3959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BASE DE DATOS MAESTRA — NUBE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14600"/>
            <a:ext cx="3959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FDEE8"/>
                </a:solidFill>
                <a:latin typeface="Calibri"/>
              </a:rPr>
              <a:t>Fuente única de verdad · respaldos automáticos · alta disponibilidad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2514600" cy="1874519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2511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0F2445"/>
                </a:solidFill>
                <a:latin typeface="Cambria"/>
              </a:rPr>
              <a:t>Sucursal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19" y="476402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481888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PC local + sistema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19" y="5294376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5349240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C7293"/>
                </a:solidFill>
                <a:latin typeface="Calibri"/>
              </a:rPr>
              <a:t>Réplica + respaldo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897380" y="3017520"/>
            <a:ext cx="4197096" cy="1143000"/>
          </a:xfrm>
          <a:prstGeom prst="bentConnector3">
            <a:avLst/>
          </a:prstGeom>
          <a:ln w="19050">
            <a:solidFill>
              <a:srgbClr val="2E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01568" y="4160520"/>
            <a:ext cx="2514600" cy="1874519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432511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0F2445"/>
                </a:solidFill>
                <a:latin typeface="Cambria"/>
              </a:rPr>
              <a:t>Sucursal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1608" y="476402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481888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PC local + sistema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608" y="5294376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5349240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C7293"/>
                </a:solidFill>
                <a:latin typeface="Calibri"/>
              </a:rPr>
              <a:t>Réplica + respaldo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658868" y="3017520"/>
            <a:ext cx="1435608" cy="1143000"/>
          </a:xfrm>
          <a:prstGeom prst="bentConnector3">
            <a:avLst/>
          </a:prstGeom>
          <a:ln w="19050">
            <a:solidFill>
              <a:srgbClr val="2E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63056" y="4160520"/>
            <a:ext cx="2514600" cy="1874519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432511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0F2445"/>
                </a:solidFill>
                <a:latin typeface="Cambria"/>
              </a:rPr>
              <a:t>Sucursal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83096" y="476402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481888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PC local + sistema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3096" y="5294376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5349240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C7293"/>
                </a:solidFill>
                <a:latin typeface="Calibri"/>
              </a:rPr>
              <a:t>Réplica + respaldo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6094476" y="3017520"/>
            <a:ext cx="1325880" cy="1143000"/>
          </a:xfrm>
          <a:prstGeom prst="bentConnector3">
            <a:avLst/>
          </a:prstGeom>
          <a:ln w="19050">
            <a:solidFill>
              <a:srgbClr val="2E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24544" y="4160520"/>
            <a:ext cx="2514600" cy="1874519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4544" y="4325112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0F2445"/>
                </a:solidFill>
                <a:latin typeface="Cambria"/>
              </a:rPr>
              <a:t>Sucursal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44584" y="476402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44584" y="481888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PC local + sistema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44584" y="5294376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5349240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C7293"/>
                </a:solidFill>
                <a:latin typeface="Calibri"/>
              </a:rPr>
              <a:t>Réplica + respaldo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6094476" y="3017520"/>
            <a:ext cx="4087368" cy="1143000"/>
          </a:xfrm>
          <a:prstGeom prst="bentConnector3">
            <a:avLst/>
          </a:prstGeom>
          <a:ln w="19050">
            <a:solidFill>
              <a:srgbClr val="2E8B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19963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2E8BA6"/>
                </a:solidFill>
                <a:latin typeface="Calibri"/>
              </a:rPr>
              <a:t>Sincronización bidireccional: con conexión cada sucursal sube y baja cambios de la nube; sin conexión opera con su réplica local y sincroniza al reconectar.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CONTINUIDAD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El sistema no se detiene si falla el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5B6B7E"/>
                </a:solidFill>
                <a:latin typeface="Calibri"/>
              </a:rPr>
              <a:t>Con sucursales a 3–6 horas de distancia, no podemos depender de la conexión ni del soporte presencial inmediato. La operación siempre corre en local; la nube es el punto de consolidación.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798063"/>
            <a:ext cx="749808" cy="74980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798063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mbria"/>
              </a:rPr>
              <a:t>Opera en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48056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5B6B7E"/>
                </a:solidFill>
                <a:latin typeface="Calibri"/>
              </a:rPr>
              <a:t>Cada venta o reserva se guarda al instante en la base local de la sucursal.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4700" y="2971800"/>
            <a:ext cx="1554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FDEE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2514600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25696" y="2798063"/>
            <a:ext cx="749808" cy="749808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2798063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749039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mbria"/>
              </a:rPr>
              <a:t>Cola de sincronización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448056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5B6B7E"/>
                </a:solidFill>
                <a:latin typeface="Calibri"/>
              </a:rPr>
              <a:t>Los cambios se acumulan en una cola pendiente cuando no hay conexión.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0196" y="2971800"/>
            <a:ext cx="1554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FDEE8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514600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1192" y="2798063"/>
            <a:ext cx="749808" cy="749808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2798063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749039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mbria"/>
              </a:rPr>
              <a:t>Sincroniza al reconectar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48056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5B6B7E"/>
                </a:solidFill>
                <a:latin typeface="Calibri"/>
              </a:rPr>
              <a:t>Al volver el internet, la cola sube a la nube y baja los cambios de otras sedes.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5692" y="2971800"/>
            <a:ext cx="1554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FDEE8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7" y="2514600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76688" y="2798063"/>
            <a:ext cx="749808" cy="74980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76688" y="2798063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749039"/>
            <a:ext cx="22128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 i="0">
                <a:solidFill>
                  <a:srgbClr val="1E293B"/>
                </a:solidFill>
                <a:latin typeface="Cambria"/>
              </a:rPr>
              <a:t>Evita la sobreventa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4480560"/>
            <a:ext cx="21579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5B6B7E"/>
                </a:solidFill>
                <a:latin typeface="Calibri"/>
              </a:rPr>
              <a:t>Inventario autoritativo por viaje; la reserva entre sucursales se confirma en línea (ver siguiente lámina).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871E"/>
                </a:solidFill>
                <a:latin typeface="Calibri"/>
              </a:rPr>
              <a:t>PUNTO CRÍTICO PARA 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Reservaciones entre sucursales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27080" cy="1024128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600200"/>
            <a:ext cx="566928" cy="566928"/>
          </a:xfrm>
          <a:prstGeom prst="ellipse">
            <a:avLst/>
          </a:prstGeom>
          <a:solidFill>
            <a:srgbClr val="D9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600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36192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Ejemplo: un cliente en Huajuapan reserva asientos de un viaje que sale de CDMX. Así funciona el flujo de reserva entre sucursales: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3529584" cy="27889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990088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99008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8620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La reserva aparta el asiento al instante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66344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5B6B7E"/>
                </a:solidFill>
                <a:latin typeface="Calibri"/>
              </a:rPr>
              <a:t>La sucursal que hace la reserva no requiere confirmación en línea: al reservar, el asiento queda apartado de inmediato.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788920"/>
            <a:ext cx="3529584" cy="27889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35423" y="2990088"/>
            <a:ext cx="731520" cy="731520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3" y="299008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88620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Notificación y confirmación automática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66344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5B6B7E"/>
                </a:solidFill>
                <a:latin typeface="Calibri"/>
              </a:rPr>
              <a:t>La sucursal de origen del viaje solo ve una notificación de que se hizo la reserva; ésta queda confirmada automáticamente.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2788920"/>
            <a:ext cx="3529584" cy="27889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47887" y="2990088"/>
            <a:ext cx="731520" cy="73152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7" y="299008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388620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El cobro queda en la sucursal que reserva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466344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30" b="0" i="0">
                <a:solidFill>
                  <a:srgbClr val="5B6B7E"/>
                </a:solidFill>
                <a:latin typeface="Calibri"/>
              </a:rPr>
              <a:t>El pago puede cobrarse en la misma sucursal donde se hizo la reserva; ese efectivo entra en su corte de caja, no en la del viaje.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52160"/>
            <a:ext cx="10927080" cy="548640"/>
          </a:xfrm>
          <a:prstGeom prst="roundRect">
            <a:avLst>
              <a:gd name="adj" fmla="val 8000"/>
            </a:avLst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Resultado: flujo simple — el asiento se aparta al instante, la sucursal de origen se sincroniza por notificación y el cobro queda en la sucursal que reservó.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ALCANCE DE LA ETAPA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Qué incluye el MVP y qué se libera después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B7E"/>
                </a:solidFill>
                <a:latin typeface="Calibri"/>
              </a:rPr>
              <a:t>Arrancamos con lo esencial para operar. Las funciones secundarias se liberan sin costo extra dentro de la renta mensual.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440680" cy="3977639"/>
          </a:xfrm>
          <a:prstGeom prst="roundRect">
            <a:avLst>
              <a:gd name="adj" fmla="val 5000"/>
            </a:avLst>
          </a:prstGeom>
          <a:solidFill>
            <a:srgbClr val="0F2445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44144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4203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Incluido en el MVP (pago único)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21868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13639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Motor de sincronización offline-first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63016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547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Venta de boletos + impresión de ticket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04164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95935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Reservación con mapa visual de asientos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45312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37083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Rutas/viajes entre sucursales + horarios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86460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78231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Usuarios, roles y permisos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27608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19379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Corte de caja básico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5687568"/>
            <a:ext cx="118872" cy="11887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6052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Registro de ingresos, egresos, tickets y reservaciones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148840"/>
            <a:ext cx="5257800" cy="3977639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10528" y="2441448"/>
            <a:ext cx="603504" cy="603504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4414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5420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445"/>
                </a:solidFill>
                <a:latin typeface="Cambria"/>
              </a:rPr>
              <a:t>Se libera después (dentro de la renta)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3355848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27355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Reportes avanzados y tableros de indicadores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3922776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84048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Programación avanzada de horarios</a:t>
            </a:r>
          </a:p>
        </p:txBody>
      </p:sp>
      <p:sp>
        <p:nvSpPr>
          <p:cNvPr id="32" name="Oval 31"/>
          <p:cNvSpPr/>
          <p:nvPr/>
        </p:nvSpPr>
        <p:spPr>
          <a:xfrm>
            <a:off x="6629400" y="4489704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40740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Exportación y filtros avanzados de reportes</a:t>
            </a:r>
          </a:p>
        </p:txBody>
      </p:sp>
      <p:sp>
        <p:nvSpPr>
          <p:cNvPr id="34" name="Oval 33"/>
          <p:cNvSpPr/>
          <p:nvPr/>
        </p:nvSpPr>
        <p:spPr>
          <a:xfrm>
            <a:off x="6629400" y="5056632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4974336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0" i="0">
                <a:solidFill>
                  <a:srgbClr val="1E293B"/>
                </a:solidFill>
                <a:latin typeface="Calibri"/>
              </a:rPr>
              <a:t>Mejoras continuas del sistema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SEGUNDA ETAPA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Módulo de paquetería (Etapa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B7E"/>
                </a:solidFill>
                <a:latin typeface="Calibri"/>
              </a:rPr>
              <a:t>Sobre la misma plataforma se agrega un manejo de envíos simple entre sucursales, basado en un número de control interno. Pago único adicional + incremento de renta.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29584" cy="166420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340863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4086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86000"/>
            <a:ext cx="2432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Registro de envío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3026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B6B7E"/>
                </a:solidFill>
                <a:latin typeface="Calibri"/>
              </a:rPr>
              <a:t>Genera un número de control, registra la hora de salida de la sucursal origen y el operador que lleva el envío.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103120"/>
            <a:ext cx="3529584" cy="166420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2340863"/>
            <a:ext cx="512064" cy="512064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4086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2286000"/>
            <a:ext cx="2432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Recepción por código de barras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926079"/>
            <a:ext cx="3026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B6B7E"/>
                </a:solidFill>
                <a:latin typeface="Calibri"/>
              </a:rPr>
              <a:t>La sucursal destino escanea el paquete y lo marca como recibido.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7" y="2103120"/>
            <a:ext cx="3529584" cy="166420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9" y="2340863"/>
            <a:ext cx="512064" cy="512064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2340863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7" y="2286000"/>
            <a:ext cx="2432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Estatus del envío (interno)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926079"/>
            <a:ext cx="3026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B6B7E"/>
                </a:solidFill>
                <a:latin typeface="Calibri"/>
              </a:rPr>
              <a:t>Los usuarios consultan el número de control para ver si fue recibido, entregado o se encuentra en ruta.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50208"/>
            <a:ext cx="3529584" cy="166420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4187952"/>
            <a:ext cx="512064" cy="512064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1879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33088"/>
            <a:ext cx="2432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Cobro en origen o destino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3026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B6B7E"/>
                </a:solidFill>
                <a:latin typeface="Calibri"/>
              </a:rPr>
              <a:t>El pago se registra en el corte de caja de la sucursal que cobra.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3950208"/>
            <a:ext cx="3529584" cy="166420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8576" y="418795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1879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4133088"/>
            <a:ext cx="2432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Etiqueta con 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4773168"/>
            <a:ext cx="3026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B6B7E"/>
                </a:solidFill>
                <a:latin typeface="Calibri"/>
              </a:rPr>
              <a:t>Etiqueta imprimible con los datos del envío codificados; sin servidor externo.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7" y="3950208"/>
            <a:ext cx="3529584" cy="166420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39" y="4187952"/>
            <a:ext cx="512064" cy="512064"/>
          </a:xfrm>
          <a:prstGeom prst="ellipse">
            <a:avLst/>
          </a:prstGeom>
          <a:solidFill>
            <a:srgbClr val="D9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39" y="41879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7" y="4133088"/>
            <a:ext cx="2432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Reportes de paquetería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4773168"/>
            <a:ext cx="30266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B6B7E"/>
                </a:solidFill>
                <a:latin typeface="Calibri"/>
              </a:rPr>
              <a:t>Enviados, recibidos, en curso y entregados.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870448"/>
            <a:ext cx="10927080" cy="566928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7044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1C3A5E"/>
                </a:solidFill>
                <a:latin typeface="Calibri"/>
              </a:rPr>
              <a:t>Después de la puesta en operación de la Etapa 2, se podrán ir implementando mejoras continuas al sistema.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INFRAESTRUCTURA RECOMENDADA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Hardware por sucursal — a cargo del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B6B7E"/>
                </a:solidFill>
                <a:latin typeface="Calibri"/>
              </a:rPr>
              <a:t>El hardware es propiedad del cliente: él lo adquiere directamente con las especificaciones que sugerimos. La instalación del sistema en las 4 terminales va incluida sin costo.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2587752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5877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1460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PC de negocio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98648"/>
            <a:ext cx="25237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Core i5, 16 GB RAM, SSD 512 GB, Windows 11 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5" y="251460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9871E"/>
                </a:solidFill>
                <a:latin typeface="Cambria"/>
              </a:rPr>
              <a:t>$14,000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233172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2587752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877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51460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Monitor 22"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898648"/>
            <a:ext cx="25237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Pantalla para operación de mostrador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51460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9871E"/>
                </a:solidFill>
                <a:latin typeface="Cambria"/>
              </a:rPr>
              <a:t>$2,500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233172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1" y="2587752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25877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7" y="251460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No-break / 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7" y="2898648"/>
            <a:ext cx="25237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1000 VA — protege ante cortes de energía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1903" y="251460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9871E"/>
                </a:solidFill>
                <a:latin typeface="Cambria"/>
              </a:rPr>
              <a:t>$1,800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4142232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142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0690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Impresora térmica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53128"/>
            <a:ext cx="25237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Tickets 80 mm para boletos y comprobantes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5" y="406908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9871E"/>
                </a:solidFill>
                <a:latin typeface="Cambria"/>
              </a:rPr>
              <a:t>$2,200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38862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4142232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142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1224" y="40690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Lector de código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21224" y="4453128"/>
            <a:ext cx="25237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Escáner de código de barras / QR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6908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9871E"/>
                </a:solidFill>
                <a:latin typeface="Cambria"/>
              </a:rPr>
              <a:t>$1,200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5007" y="388620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02751" y="4142232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1" y="4142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7" y="40690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93B"/>
                </a:solidFill>
                <a:latin typeface="Cambria"/>
              </a:rPr>
              <a:t>Router con respaldo 4G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7" y="4453128"/>
            <a:ext cx="25237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Conexión de respaldo LTE ante fallas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1903" y="406908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9871E"/>
                </a:solidFill>
                <a:latin typeface="Cambria"/>
              </a:rPr>
              <a:t>$2,500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6144768"/>
            <a:ext cx="10863072" cy="502920"/>
          </a:xfrm>
          <a:prstGeom prst="roundRect">
            <a:avLst>
              <a:gd name="adj" fmla="val 10000"/>
            </a:avLst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208776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Inversión del cliente en hardware (4 sucursales): ~ $116,000 MXN, compra directa     ·     Instalación del sistema: INCLUIDA sin costo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541"/>
                </a:solidFill>
                <a:latin typeface="Calibri"/>
              </a:rPr>
              <a:t>MODELO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Cómo funciona el esquema de pago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CFDEE8"/>
                </a:solidFill>
                <a:latin typeface="Calibri"/>
              </a:rPr>
              <a:t>El cliente financia la construcción del sistema y luego paga una licencia por renta para usarlo, con soporte y mejoras incluidas.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440680" cy="288036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459736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459736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42032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2445"/>
                </a:solidFill>
                <a:latin typeface="Cambria"/>
              </a:rPr>
              <a:t>Pago único — Desarrollo inicial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5B6B7E"/>
                </a:solidFill>
                <a:latin typeface="Calibri"/>
              </a:rPr>
              <a:t>Cubre la mano de obra de construir el sistema a la medida (MVP de la Etapa 1), su configuración en nube y la puesta en marcha. Es un pago por el servicio de desarrollo.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48840"/>
            <a:ext cx="5257800" cy="28803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459736"/>
            <a:ext cx="658368" cy="65836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459736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54203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Licencia por renta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337560"/>
            <a:ext cx="4663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CFDEE8"/>
                </a:solidFill>
                <a:latin typeface="Calibri"/>
              </a:rPr>
              <a:t>Tras la instalación, una mensualidad da el derecho de uso del sistema e incluye soporte y actualizaciones menores. Módulos nuevos se cotizan aparte.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541"/>
                </a:solidFill>
                <a:latin typeface="Cambria"/>
              </a:rPr>
              <a:t>Propiedad del sistema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05856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FDEE8"/>
                </a:solidFill>
                <a:latin typeface="Calibri"/>
              </a:rPr>
              <a:t>La propiedad y los derechos del software permanecen con el proveedor (Fi.TechServices). El pago de desarrollo financia la construcción a la medida; no transfiere la titularidad. El cliente recibe un derecho de uso mediante la licencia por renta.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LICENCIA POR RENTA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Qué incluye la renta mensual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B7E"/>
                </a:solidFill>
                <a:latin typeface="Calibri"/>
              </a:rPr>
              <a:t>Una sola mensualidad cubre el uso del sistema, su operación en la nube, el soporte y las mejoras menores.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70048" cy="33832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514600"/>
            <a:ext cx="621792" cy="6217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291839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Cambria"/>
              </a:rPr>
              <a:t>Licencia de uso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23360"/>
            <a:ext cx="22311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Calibri"/>
              </a:rPr>
              <a:t>Derecho de uso del sistema mientras esté activa la renta.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2194560"/>
            <a:ext cx="2670048" cy="33832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9704" y="2514600"/>
            <a:ext cx="621792" cy="621792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3291839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Cambria"/>
              </a:rPr>
              <a:t>Soporte 8h/día · 7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4023360"/>
            <a:ext cx="22311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Calibri"/>
              </a:rPr>
              <a:t>Franja flexible. Telefónico/remoto para sucursales lejanas; presencial en la matriz. El cliente reporta la incidencia para ser atendido.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194560"/>
            <a:ext cx="2670048" cy="33832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2514600"/>
            <a:ext cx="621792" cy="621792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291839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Cambria"/>
              </a:rPr>
              <a:t>Infraestructura en nube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023360"/>
            <a:ext cx="22311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Calibri"/>
              </a:rPr>
              <a:t>Base de datos maestra, respaldos automáticos y disponibilidad.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6567" y="2194560"/>
            <a:ext cx="2670048" cy="338328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0696" y="2514600"/>
            <a:ext cx="621792" cy="621792"/>
          </a:xfrm>
          <a:prstGeom prst="ellipse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7" y="3291839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E293B"/>
                </a:solidFill>
                <a:latin typeface="Cambria"/>
              </a:rPr>
              <a:t>Actualizaciones menores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4023360"/>
            <a:ext cx="22311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Calibri"/>
              </a:rPr>
              <a:t>Correcciones y liberación de funciones secundarias sin costo extra.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6858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Renta mensual estimada:  ~ $30,000 MXN / 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806440"/>
            <a:ext cx="5120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CFDEE8"/>
                </a:solidFill>
                <a:latin typeface="Calibri"/>
              </a:rPr>
              <a:t>Módulos nuevos = pago único adicional + incremento de renta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CONTINUIDAD Y PROTECCIÓN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Qué pasa si se suspende el pago de la renta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B7E"/>
                </a:solidFill>
                <a:latin typeface="Calibri"/>
              </a:rPr>
              <a:t>Un esquema escalonado y transparente: el cliente nunca pierde su información de golpe y siempre puede exportarla.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023" y="2286000"/>
            <a:ext cx="2048256" cy="3291840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023" y="2286000"/>
            <a:ext cx="2048256" cy="566928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6023" y="2569464"/>
            <a:ext cx="2048256" cy="2834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023" y="237744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Mes 1</a:t>
            </a:r>
          </a:p>
        </p:txBody>
      </p:sp>
      <p:sp>
        <p:nvSpPr>
          <p:cNvPr id="10" name="Oval 9"/>
          <p:cNvSpPr/>
          <p:nvPr/>
        </p:nvSpPr>
        <p:spPr>
          <a:xfrm>
            <a:off x="1368399" y="312724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8399" y="31272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751" y="38862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Uso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615" y="448056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Periodo de gracia: el sistema sigue funcionando con normalidad.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8871" y="2286000"/>
            <a:ext cx="2048256" cy="3291840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58871" y="2286000"/>
            <a:ext cx="2048256" cy="566928"/>
          </a:xfrm>
          <a:prstGeom prst="roundRect">
            <a:avLst>
              <a:gd name="adj" fmla="val 7000"/>
            </a:avLst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58871" y="2569464"/>
            <a:ext cx="2048256" cy="283464"/>
          </a:xfrm>
          <a:prstGeom prst="rect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8871" y="237744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Mes 2</a:t>
            </a:r>
          </a:p>
        </p:txBody>
      </p:sp>
      <p:sp>
        <p:nvSpPr>
          <p:cNvPr id="18" name="Oval 17"/>
          <p:cNvSpPr/>
          <p:nvPr/>
        </p:nvSpPr>
        <p:spPr>
          <a:xfrm>
            <a:off x="3581247" y="3127248"/>
            <a:ext cx="603504" cy="603504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247" y="31272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8599" y="38862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Solo consulta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3463" y="448056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Acceso de solo lectura a la información.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1719" y="2286000"/>
            <a:ext cx="2048256" cy="3291840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71719" y="2286000"/>
            <a:ext cx="2048256" cy="566928"/>
          </a:xfrm>
          <a:prstGeom prst="roundRect">
            <a:avLst>
              <a:gd name="adj" fmla="val 7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71719" y="2569464"/>
            <a:ext cx="2048256" cy="283464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1719" y="237744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Mes 3</a:t>
            </a:r>
          </a:p>
        </p:txBody>
      </p:sp>
      <p:sp>
        <p:nvSpPr>
          <p:cNvPr id="26" name="Oval 25"/>
          <p:cNvSpPr/>
          <p:nvPr/>
        </p:nvSpPr>
        <p:spPr>
          <a:xfrm>
            <a:off x="5794095" y="3127248"/>
            <a:ext cx="603504" cy="603504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4095" y="31272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447" y="38862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Solo administrador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6311" y="448056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Únicamente el administrador consulta la información.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4567" y="2286000"/>
            <a:ext cx="2048256" cy="3291840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84567" y="2286000"/>
            <a:ext cx="2048256" cy="566928"/>
          </a:xfrm>
          <a:prstGeom prst="roundRect">
            <a:avLst>
              <a:gd name="adj" fmla="val 7000"/>
            </a:avLst>
          </a:prstGeom>
          <a:solidFill>
            <a:srgbClr val="D9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84567" y="2569464"/>
            <a:ext cx="2048256" cy="283464"/>
          </a:xfrm>
          <a:prstGeom prst="rect">
            <a:avLst/>
          </a:prstGeom>
          <a:solidFill>
            <a:srgbClr val="D9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4567" y="237744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Mes 4</a:t>
            </a:r>
          </a:p>
        </p:txBody>
      </p:sp>
      <p:sp>
        <p:nvSpPr>
          <p:cNvPr id="34" name="Oval 33"/>
          <p:cNvSpPr/>
          <p:nvPr/>
        </p:nvSpPr>
        <p:spPr>
          <a:xfrm>
            <a:off x="8006943" y="3127248"/>
            <a:ext cx="603504" cy="603504"/>
          </a:xfrm>
          <a:prstGeom prst="ellipse">
            <a:avLst/>
          </a:prstGeom>
          <a:solidFill>
            <a:srgbClr val="D9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6943" y="31272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4295" y="38862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Exportación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9159" y="448056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Se habilita la exportación de toda su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97415" y="2286000"/>
            <a:ext cx="2048256" cy="3291840"/>
          </a:xfrm>
          <a:prstGeom prst="roundRect">
            <a:avLst>
              <a:gd name="adj" fmla="val 7000"/>
            </a:avLst>
          </a:prstGeom>
          <a:solidFill>
            <a:srgbClr val="F2F5F8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97415" y="2286000"/>
            <a:ext cx="2048256" cy="566928"/>
          </a:xfrm>
          <a:prstGeom prst="roundRect">
            <a:avLst>
              <a:gd name="adj" fmla="val 7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97415" y="2569464"/>
            <a:ext cx="2048256" cy="2834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7415" y="2377440"/>
            <a:ext cx="20482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Mes 5</a:t>
            </a:r>
          </a:p>
        </p:txBody>
      </p:sp>
      <p:sp>
        <p:nvSpPr>
          <p:cNvPr id="42" name="Oval 41"/>
          <p:cNvSpPr/>
          <p:nvPr/>
        </p:nvSpPr>
        <p:spPr>
          <a:xfrm>
            <a:off x="10219791" y="3127248"/>
            <a:ext cx="603504" cy="603504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9791" y="31272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7143" y="38862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93B"/>
                </a:solidFill>
                <a:latin typeface="Cambria"/>
              </a:rPr>
              <a:t>Acceso denegado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62007" y="4480560"/>
            <a:ext cx="1719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E"/>
                </a:solidFill>
                <a:latin typeface="Calibri"/>
              </a:rPr>
              <a:t>Se suspende el acceso al sistema.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PLAN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2445"/>
                </a:solidFill>
                <a:latin typeface="Cambria"/>
              </a:rPr>
              <a:t>Cronograma y tiempos de entrega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9476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631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6631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3786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3786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0941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0941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8096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5251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5251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2406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2406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59561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595610" y="1490472"/>
            <a:ext cx="9715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B7E"/>
                </a:solidFill>
                <a:latin typeface="Calibri"/>
              </a:rPr>
              <a:t>Mes 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567160" y="1783080"/>
            <a:ext cx="0" cy="4160520"/>
          </a:xfrm>
          <a:prstGeom prst="bentConnector3">
            <a:avLst/>
          </a:prstGeom>
          <a:ln w="9525">
            <a:solidFill>
              <a:srgbClr val="E4EA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1938528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Descubrimiento y diseño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1984248"/>
            <a:ext cx="582930" cy="292608"/>
          </a:xfrm>
          <a:prstGeom prst="roundRect">
            <a:avLst>
              <a:gd name="adj" fmla="val 3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23160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Arquitectura + motor de sincronización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7690" y="2468879"/>
            <a:ext cx="874394" cy="292608"/>
          </a:xfrm>
          <a:prstGeom prst="roundRect">
            <a:avLst>
              <a:gd name="adj" fmla="val 3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907792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Venta de boletos y reservación de asientos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2085" y="2953512"/>
            <a:ext cx="1214437" cy="292608"/>
          </a:xfrm>
          <a:prstGeom prst="roundRect">
            <a:avLst>
              <a:gd name="adj" fmla="val 3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92424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Rutas/horarios, usuarios y corte de caja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6522" y="3438144"/>
            <a:ext cx="728662" cy="292608"/>
          </a:xfrm>
          <a:prstGeom prst="roundRect">
            <a:avLst>
              <a:gd name="adj" fmla="val 3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77056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Pruebas, piloto en matriz y despliegue (4 suc.)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95185" y="3922776"/>
            <a:ext cx="728662" cy="292608"/>
          </a:xfrm>
          <a:prstGeom prst="roundRect">
            <a:avLst>
              <a:gd name="adj" fmla="val 35000"/>
            </a:avLst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61688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Paquetería: registro + etiqueta/QR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3847" y="4407408"/>
            <a:ext cx="971550" cy="292608"/>
          </a:xfrm>
          <a:prstGeom prst="roundRect">
            <a:avLst>
              <a:gd name="adj" fmla="val 35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Recepción por código y estatus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95397" y="4892040"/>
            <a:ext cx="971550" cy="292608"/>
          </a:xfrm>
          <a:prstGeom prst="roundRect">
            <a:avLst>
              <a:gd name="adj" fmla="val 35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330952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1E293B"/>
                </a:solidFill>
                <a:latin typeface="Calibri"/>
              </a:rPr>
              <a:t>Cobro en caja, reportes y despliegue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947" y="5376672"/>
            <a:ext cx="971550" cy="292608"/>
          </a:xfrm>
          <a:prstGeom prst="roundRect">
            <a:avLst>
              <a:gd name="adj" fmla="val 35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" y="6144768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611733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Etapa 1 — MVP tickets y reservaciones (~4 meses)</a:t>
            </a:r>
          </a:p>
        </p:txBody>
      </p:sp>
      <p:sp>
        <p:nvSpPr>
          <p:cNvPr id="40" name="Oval 39"/>
          <p:cNvSpPr/>
          <p:nvPr/>
        </p:nvSpPr>
        <p:spPr>
          <a:xfrm>
            <a:off x="5577840" y="6144768"/>
            <a:ext cx="201168" cy="20116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611733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Etapa 2 — Paquetería (~3 meses)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61173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2445"/>
                </a:solidFill>
                <a:latin typeface="Calibri"/>
              </a:rPr>
              <a:t>Total: ~7 meses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541"/>
                </a:solidFill>
                <a:latin typeface="Calibri"/>
              </a:rPr>
              <a:t>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Resumen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CFDEE8"/>
                </a:solidFill>
                <a:latin typeface="Calibri"/>
              </a:rPr>
              <a:t>Cifras estimadas en MXN, sin IVA. Se afinan tras la fase de descubrimiento.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309360" cy="4572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37943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PAGO ÚNICO · DESARROLLO INICIAL (Etapa 1 · MVP)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6309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4297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1E293B"/>
                </a:solidFill>
                <a:latin typeface="Calibri"/>
              </a:rPr>
              <a:t>Desarrollo del sistema (MVP, offline-first)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40280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60" b="1" i="0">
                <a:solidFill>
                  <a:srgbClr val="1E293B"/>
                </a:solidFill>
                <a:latin typeface="Calibri"/>
              </a:rPr>
              <a:t>$920,000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42616"/>
            <a:ext cx="6309360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642616"/>
            <a:ext cx="4297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1E293B"/>
                </a:solidFill>
                <a:latin typeface="Calibri"/>
              </a:rPr>
              <a:t>Configuración de nube e infraestructura (DevOps)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42616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60" b="1" i="0">
                <a:solidFill>
                  <a:srgbClr val="1E293B"/>
                </a:solidFill>
                <a:latin typeface="Calibri"/>
              </a:rPr>
              <a:t>$50,000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44952"/>
            <a:ext cx="630936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44952"/>
            <a:ext cx="4297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1E293B"/>
                </a:solidFill>
                <a:latin typeface="Calibri"/>
              </a:rPr>
              <a:t>Capacitación, puesta en marcha e instalación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44952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60" b="1" i="0">
                <a:solidFill>
                  <a:srgbClr val="1E293B"/>
                </a:solidFill>
                <a:latin typeface="Calibri"/>
              </a:rPr>
              <a:t>$80,000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47288"/>
            <a:ext cx="6309360" cy="457200"/>
          </a:xfrm>
          <a:prstGeom prst="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447288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Total pago único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4728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A541"/>
                </a:solidFill>
                <a:latin typeface="Cambria"/>
              </a:rPr>
              <a:t>$1,050,000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783080"/>
            <a:ext cx="4325112" cy="457200"/>
          </a:xfrm>
          <a:prstGeom prst="roundRect">
            <a:avLst>
              <a:gd name="adj" fmla="val 4000"/>
            </a:avLst>
          </a:prstGeom>
          <a:solidFill>
            <a:srgbClr val="D9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837943"/>
            <a:ext cx="3959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RENTA MENSUAL · LICENCIA DE USO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240280"/>
            <a:ext cx="4325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240280"/>
            <a:ext cx="23134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1E293B"/>
                </a:solidFill>
                <a:latin typeface="Calibri"/>
              </a:rPr>
              <a:t>Licencia de uso del sistema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240280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60" b="1" i="0">
                <a:solidFill>
                  <a:srgbClr val="1E293B"/>
                </a:solidFill>
                <a:latin typeface="Calibri"/>
              </a:rPr>
              <a:t>$10,000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2642616"/>
            <a:ext cx="4325112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642616"/>
            <a:ext cx="23134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1E293B"/>
                </a:solidFill>
                <a:latin typeface="Calibri"/>
              </a:rPr>
              <a:t>Soporte 8h/día × 7 días (tel. + matriz)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8632" y="2642616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60" b="1" i="0">
                <a:solidFill>
                  <a:srgbClr val="1E293B"/>
                </a:solidFill>
                <a:latin typeface="Calibri"/>
              </a:rPr>
              <a:t>$12,000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044952"/>
            <a:ext cx="432511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044952"/>
            <a:ext cx="23134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1E293B"/>
                </a:solidFill>
                <a:latin typeface="Calibri"/>
              </a:rPr>
              <a:t>Infraestructura en nube (BD + respaldos)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044952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60" b="1" i="0">
                <a:solidFill>
                  <a:srgbClr val="1E293B"/>
                </a:solidFill>
                <a:latin typeface="Calibri"/>
              </a:rPr>
              <a:t>$3,500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447288"/>
            <a:ext cx="4325112" cy="402336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447288"/>
            <a:ext cx="23134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 i="0">
                <a:solidFill>
                  <a:srgbClr val="1E293B"/>
                </a:solidFill>
                <a:latin typeface="Calibri"/>
              </a:rPr>
              <a:t>Actualizaciones menores incluidas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8632" y="3447288"/>
            <a:ext cx="1737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60" b="1" i="0">
                <a:solidFill>
                  <a:srgbClr val="1E293B"/>
                </a:solidFill>
                <a:latin typeface="Calibri"/>
              </a:rPr>
              <a:t>$4,500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849624"/>
            <a:ext cx="4325112" cy="457200"/>
          </a:xfrm>
          <a:prstGeom prst="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849624"/>
            <a:ext cx="23134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Renta mensual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3849624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 i="0">
                <a:solidFill>
                  <a:srgbClr val="F2A541"/>
                </a:solidFill>
                <a:latin typeface="Cambria"/>
              </a:rPr>
              <a:t>$30,000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4507992"/>
            <a:ext cx="4325112" cy="1234440"/>
          </a:xfrm>
          <a:prstGeom prst="roundRect">
            <a:avLst>
              <a:gd name="adj" fmla="val 5000"/>
            </a:avLst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4599431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A541"/>
                </a:solidFill>
                <a:latin typeface="Cambria"/>
              </a:rPr>
              <a:t>A cargo del cliente / posterior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910328"/>
            <a:ext cx="4069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FDEE8"/>
                </a:solidFill>
                <a:latin typeface="Calibri"/>
              </a:rPr>
              <a:t>Hardware 4 sucursales: ~$116,000 (compra directa; instalación incluida gratis)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FDEE8"/>
                </a:solidFill>
                <a:latin typeface="Calibri"/>
              </a:rPr>
              <a:t>Etapa 2 – Paquetería (simplificada): pago único ~$450,000 + incremento de renta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6309360" cy="822960"/>
          </a:xfrm>
          <a:prstGeom prst="roundRect">
            <a:avLst>
              <a:gd name="adj" fmla="val 6000"/>
            </a:avLst>
          </a:prstGeom>
          <a:solidFill>
            <a:srgbClr val="F2A541"/>
          </a:solidFill>
          <a:ln>
            <a:noFill/>
          </a:ln>
          <a:effectLst/>
          <a:effectLst>
            <a:outerShdw blurRad="101600" dist="38100" dir="5400000" rotWithShape="0">
              <a:srgbClr val="1A2A3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704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2445"/>
                </a:solidFill>
                <a:latin typeface="Cambria"/>
              </a:rPr>
              <a:t>INVERSIÓN INICIAL DEL CLIENTE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623620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2445"/>
                </a:solidFill>
                <a:latin typeface="Calibri"/>
              </a:rPr>
              <a:t>Desarrollo $1,050,000  +  Hardware ~$116,000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5806440"/>
            <a:ext cx="1600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0F2445"/>
                </a:solidFill>
                <a:latin typeface="Cambria"/>
              </a:rPr>
              <a:t>+ renta ~$30,000/mes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10972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1920240"/>
            <a:ext cx="274320" cy="27432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2103120"/>
            <a:ext cx="201168" cy="201168"/>
          </a:xfrm>
          <a:prstGeom prst="ellipse">
            <a:avLst/>
          </a:prstGeom>
          <a:solidFill>
            <a:srgbClr val="2E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0" y="512064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5486400"/>
            <a:ext cx="237744" cy="237744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¿Arrancamos con la Etapa 1?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CFDEE8"/>
                </a:solidFill>
                <a:latin typeface="Calibri"/>
              </a:rPr>
              <a:t>Proponemos una sesión de descubrimiento para afinar procesos, cerrar el alcance del MVP</a:t>
            </a:r>
          </a:p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CFDEE8"/>
                </a:solidFill>
                <a:latin typeface="Calibri"/>
              </a:rPr>
              <a:t>y confirmar tiempos, pago único y renta mensual.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617720"/>
            <a:ext cx="2743200" cy="41148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Ing. Adolfo López López · Fi.TechServices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8BA6"/>
                </a:solidFill>
                <a:latin typeface="Calibri"/>
              </a:rPr>
              <a:t>fito.techservices@gmail.com    ·    Cel: 9535409577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